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56cdeeeefbc43f7" /><Relationship Type="http://schemas.openxmlformats.org/officeDocument/2006/relationships/extended-properties" Target="/docProps/app.xml" Id="Rd5ddea24291a4468" /><Relationship Type="http://schemas.openxmlformats.org/officeDocument/2006/relationships/officeDocument" Target="/ppt/presentation.xml" Id="R33a4580ffb4e49a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676fb8a5e604543"/>
  </p:sldMasterIdLst>
  <p:notesMasterIdLst>
    <p:notesMasterId xmlns:r="http://schemas.openxmlformats.org/officeDocument/2006/relationships" r:id="R7a5e00487b924379"/>
  </p:notesMasterIdLst>
  <p:sldIdLst>
    <p:sldId xmlns:r="http://schemas.openxmlformats.org/officeDocument/2006/relationships" id="256" r:id="Redc9c300b9b34fc5"/>
    <p:sldId xmlns:r="http://schemas.openxmlformats.org/officeDocument/2006/relationships" id="257" r:id="R709067edaf6c45e6"/>
    <p:sldId xmlns:r="http://schemas.openxmlformats.org/officeDocument/2006/relationships" id="258" r:id="R033058ae504b4d14"/>
    <p:sldId xmlns:r="http://schemas.openxmlformats.org/officeDocument/2006/relationships" id="259" r:id="Rff2ae79fe6a2474a"/>
    <p:sldId xmlns:r="http://schemas.openxmlformats.org/officeDocument/2006/relationships" id="260" r:id="R84da1fc9adfc49c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db01a2118eb46f6" /><Relationship Type="http://schemas.openxmlformats.org/officeDocument/2006/relationships/slideMaster" Target="/ppt/slideMasters/slideMaster1.xml" Id="R1676fb8a5e604543" /><Relationship Type="http://schemas.openxmlformats.org/officeDocument/2006/relationships/notesMaster" Target="/ppt/notesMasters/notesMaster1.xml" Id="R7a5e00487b924379" /><Relationship Type="http://schemas.openxmlformats.org/officeDocument/2006/relationships/presProps" Target="/ppt/presProps.xml" Id="R4f19a7d948e942fa" /><Relationship Type="http://schemas.openxmlformats.org/officeDocument/2006/relationships/tableStyles" Target="/ppt/tableStyles.xml" Id="R6cc17504bd2645b5" /><Relationship Type="http://schemas.openxmlformats.org/officeDocument/2006/relationships/slide" Target="/ppt/slides/slide1.xml" Id="Redc9c300b9b34fc5" /><Relationship Type="http://schemas.openxmlformats.org/officeDocument/2006/relationships/slide" Target="/ppt/slides/slide2.xml" Id="R709067edaf6c45e6" /><Relationship Type="http://schemas.openxmlformats.org/officeDocument/2006/relationships/slide" Target="/ppt/slides/slide3.xml" Id="R033058ae504b4d14" /><Relationship Type="http://schemas.openxmlformats.org/officeDocument/2006/relationships/slide" Target="/ppt/slides/slide4.xml" Id="Rff2ae79fe6a2474a" /><Relationship Type="http://schemas.openxmlformats.org/officeDocument/2006/relationships/slide" Target="/ppt/slides/slide5.xml" Id="R84da1fc9adfc49c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ab675c771bf4b4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c0bf2b65c214e1e" /><Relationship Type="http://schemas.openxmlformats.org/officeDocument/2006/relationships/notesMaster" Target="/ppt/notesMasters/notesMaster1.xml" Id="R8e2063ea7855432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773009819084d8b" /><Relationship Type="http://schemas.openxmlformats.org/officeDocument/2006/relationships/notesMaster" Target="/ppt/notesMasters/notesMaster1.xml" Id="R76d4864455be41e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73ddf12c6304131" /><Relationship Type="http://schemas.openxmlformats.org/officeDocument/2006/relationships/notesMaster" Target="/ppt/notesMasters/notesMaster1.xml" Id="Recdc9b78aff94b4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8cb06e2f37f4692" /><Relationship Type="http://schemas.openxmlformats.org/officeDocument/2006/relationships/notesMaster" Target="/ppt/notesMasters/notesMaster1.xml" Id="R113e1cac22954d5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e273b0d3334402f" /><Relationship Type="http://schemas.openxmlformats.org/officeDocument/2006/relationships/notesMaster" Target="/ppt/notesMasters/notesMaster1.xml" Id="R9e8ddb0fb3a04eb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1dc65bd0c7461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cbc36d85594bf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8cac54f724420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61aaed3d6e483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c7922f41c9409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430cacf5624ec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C83892F-1E33-45A1-B4F3-3090745CBD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65BE8C5-2B9C-4041-B3D0-F5F7AFE072C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EE33E2A-E451-420D-8F94-742E859EDF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B876B5D-EAA9-4291-86FE-19CEA1B2E3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D2EBAE9-DA34-4761-9493-896E50AC40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487BABA-C341-4EA9-97E4-59E45C5FAE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212325F-939A-49C3-ACA8-B8CFF795565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7A192FA-16C2-4A16-BBC4-681C9B71387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5E4CB36-3EF3-4C25-9533-186BF37EAD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86BB7F9-E67D-43F1-9AE4-95B9B484721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57b503095d146fb" /><Relationship Type="http://schemas.openxmlformats.org/officeDocument/2006/relationships/slideLayout" Target="/ppt/slideLayouts/slideLayout1.xml" Id="R9621eb19e05b48b8" /><Relationship Type="http://schemas.openxmlformats.org/officeDocument/2006/relationships/slideLayout" Target="/ppt/slideLayouts/slideLayout2.xml" Id="Rc9b7970ba8b746c9" /><Relationship Type="http://schemas.openxmlformats.org/officeDocument/2006/relationships/slideLayout" Target="/ppt/slideLayouts/slideLayout3.xml" Id="Rffb18b4032df4eb7" /><Relationship Type="http://schemas.openxmlformats.org/officeDocument/2006/relationships/slideLayout" Target="/ppt/slideLayouts/slideLayout4.xml" Id="R863f3423cdbd4e89" /><Relationship Type="http://schemas.openxmlformats.org/officeDocument/2006/relationships/slideLayout" Target="/ppt/slideLayouts/slideLayout5.xml" Id="R778d870b4b8649c1" /><Relationship Type="http://schemas.openxmlformats.org/officeDocument/2006/relationships/slideLayout" Target="/ppt/slideLayouts/slideLayout6.xml" Id="Rca2e9a50f6ac4cf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621eb19e05b48b8"/>
    <p:sldLayoutId xmlns:r="http://schemas.openxmlformats.org/officeDocument/2006/relationships" id="2147483650" r:id="Rc9b7970ba8b746c9"/>
    <p:sldLayoutId xmlns:r="http://schemas.openxmlformats.org/officeDocument/2006/relationships" id="2147483651" r:id="Rffb18b4032df4eb7"/>
    <p:sldLayoutId xmlns:r="http://schemas.openxmlformats.org/officeDocument/2006/relationships" id="2147483652" r:id="R863f3423cdbd4e89"/>
    <p:sldLayoutId xmlns:r="http://schemas.openxmlformats.org/officeDocument/2006/relationships" id="2147483653" r:id="R778d870b4b8649c1"/>
    <p:sldLayoutId xmlns:r="http://schemas.openxmlformats.org/officeDocument/2006/relationships" id="2147483654" r:id="Rca2e9a50f6ac4cf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c7ce486d1243af" /><Relationship Type="http://schemas.openxmlformats.org/officeDocument/2006/relationships/notesSlide" Target="/ppt/notesSlides/notesSlide1.xml" Id="R34e7a60ccdbb404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abc08f47bb4ba7" /><Relationship Type="http://schemas.openxmlformats.org/officeDocument/2006/relationships/image" Target="/ppt/media/image.jpeg" Id="R97e13e1fc8034a5f" /><Relationship Type="http://schemas.openxmlformats.org/officeDocument/2006/relationships/notesSlide" Target="/ppt/notesSlides/notesSlide2.xml" Id="Rc07f0c8d0479433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95cd3d2ee34e86" /><Relationship Type="http://schemas.openxmlformats.org/officeDocument/2006/relationships/image" Target="/ppt/media/image2.jpeg" Id="Ra7c582c0d92b4bbe" /><Relationship Type="http://schemas.openxmlformats.org/officeDocument/2006/relationships/image" Target="/ppt/media/image3.jpeg" Id="R2e06f8c5ffb04657" /><Relationship Type="http://schemas.openxmlformats.org/officeDocument/2006/relationships/image" Target="/ppt/media/image4.jpeg" Id="Rd9174e16ca3342fc" /><Relationship Type="http://schemas.openxmlformats.org/officeDocument/2006/relationships/notesSlide" Target="/ppt/notesSlides/notesSlide3.xml" Id="R4999c26f82cd44f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498fcc37794519" /><Relationship Type="http://schemas.openxmlformats.org/officeDocument/2006/relationships/chart" Target="/ppt/slides/charts/chart1.xml" Id="R67ae80c3ff9b4ad0" /><Relationship Type="http://schemas.openxmlformats.org/officeDocument/2006/relationships/notesSlide" Target="/ppt/notesSlides/notesSlide4.xml" Id="R4a27080848594e1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fdecfab7984f47" /><Relationship Type="http://schemas.openxmlformats.org/officeDocument/2006/relationships/notesSlide" Target="/ppt/notesSlides/notesSlide5.xml" Id="Rca4b898fbdfb4880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rPr>
              <a:t>전체 시도 정확도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solidFill>
                <a:srgbClr val="F8FAFC"/>
              </a:solidFill>
              <a:latin typeface="Noto Sans CJK KR"/>
              <a:ea typeface="Noto Sans CJK KR"/>
              <a:cs typeface="Noto Sans CJK KR"/>
            </a:defRPr>
          </a:pPr>
        </a:p>
      </c:txPr>
    </c:title>
    <c:plotArea>
      <c:barChart>
        <c:barDir val="col"/>
        <c:grouping val="clustered"/>
        <c:varyColors val="1"/>
        <c:ser>
          <c:idx val="0"/>
          <c:order val="0"/>
          <c:tx>
            <c:v>Accuracy</c:v>
          </c:tx>
          <c:spPr>
            <a:solidFill xmlns:a="http://schemas.openxmlformats.org/drawingml/2006/main">
              <a:srgbClr val="9B87F5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B0  단독 VLM</c:v>
                </c:pt>
                <c:pt idx="1">
                  <c:v>A  전체 에이전트</c:v>
                </c:pt>
              </c:strCache>
            </c:strRef>
          </c:cat>
          <c:val>
            <c:numRef>
              <c:f>'Chart Data'!$B$2:$B$3</c:f>
              <c:numCache>
                <c:formatCode>0"%"</c:formatCode>
                <c:ptCount val="2"/>
                <c:pt idx="0">
                  <c:v>28.85</c:v>
                </c:pt>
                <c:pt idx="1">
                  <c:v>11.54</c:v>
                </c:pt>
              </c:numCache>
            </c:numRef>
          </c:val>
        </c:ser>
        <c:dLbls>
          <c:numFmt formatCode="0.00&quot;%&quot;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F8FAFC"/>
                  </a:solidFill>
                  <a:latin typeface="Noto Sans CJK KR"/>
                  <a:ea typeface="Noto Sans CJK KR"/>
                  <a:cs typeface="Noto Sans CJK KR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33415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pPr>
          </a:p>
        </c:txPr>
        <c:crossAx val="48672768"/>
      </c:catAx>
      <c:valAx>
        <c:axId val="48672768"/>
        <c:scaling>
          <c:orientation val="minMax"/>
          <c:max val="4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334155"/>
              </a:solidFill>
              <a:prstDash val="solid"/>
            </a:ln>
          </c:spPr>
        </c:majorGridlines>
        <c:numFmt formatCode="0&quot;%&quot;"/>
        <c:majorTickMark val="none"/>
        <c:minorTickMark val="none"/>
        <c:spPr>
          <a:ln xmlns:a="http://schemas.openxmlformats.org/drawingml/2006/main" w="9525">
            <a:solidFill>
              <a:srgbClr val="33415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pPr>
          </a:p>
        </c:txPr>
        <c:crossAx val="48650112"/>
        <c:crossBetween val="between"/>
        <c:majorUnit val="10"/>
      </c:valAx>
      <c:spPr>
        <a:solidFill xmlns:a="http://schemas.openxmlformats.org/drawingml/2006/main">
          <a:srgbClr val="141B2D"/>
        </a:solidFill>
        <a:ln xmlns:a="http://schemas.openxmlformats.org/drawingml/2006/main" w="0">
          <a:solidFill>
            <a:srgbClr val="141B2D"/>
          </a:solidFill>
          <a:prstDash val="solid"/>
        </a:ln>
      </c:spPr>
    </c:plotArea>
    <c:plotVisOnly val="1"/>
  </c:chart>
  <c:spPr>
    <a:solidFill xmlns:a="http://schemas.openxmlformats.org/drawingml/2006/main">
      <a:srgbClr val="141B2D"/>
    </a:solidFill>
    <a:ln xmlns:a="http://schemas.openxmlformats.org/drawingml/2006/main" w="0">
      <a:solidFill>
        <a:srgbClr val="141B2D"/>
      </a:solidFill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A384F1-CABA-4790-87FD-DD0107A70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7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B81AA0-3F33-405D-9E6E-FBF86D10D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-1476375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5BD0"/>
          </a:solidFill>
          <a:ln xmlns:a="http://schemas.openxmlformats.org/drawingml/2006/main" w="19050">
            <a:solidFill>
              <a:srgbClr val="9B87F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65325F-8707-467F-AEE0-6A6B53F0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-742950"/>
            <a:ext cx="2571750" cy="2571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19050">
            <a:solidFill>
              <a:srgbClr val="9B87F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F9FBFA-F7EC-4C60-9722-A4C257156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048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9B87F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125" b="1">
                <a:solidFill>
                  <a:srgbClr val="9B87F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125" b="1">
                <a:solidFill>
                  <a:srgbClr val="9B87F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125" b="1">
                <a:solidFill>
                  <a:srgbClr val="9B87F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125" b="1">
                <a:solidFill>
                  <a:srgbClr val="9B87F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125" b="1">
                <a:solidFill>
                  <a:srgbClr val="9B87F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125" b="1">
                <a:solidFill>
                  <a:srgbClr val="9B87F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125" b="1">
                <a:solidFill>
                  <a:srgbClr val="9B87F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125" b="1">
                <a:solidFill>
                  <a:srgbClr val="9B87F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125" b="1">
                <a:solidFill>
                  <a:srgbClr val="9B87F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9B87F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1">
                <a:solidFill>
                  <a:srgbClr val="9B87F5"/>
                </a:solidFill>
                <a:latin typeface="Noto Sans CJK KR"/>
                <a:ea typeface="Noto Sans CJK KR"/>
                <a:cs typeface="Noto Sans CJK KR"/>
              </a:rPr>
              <a:t>SK AX AI CAPSTONE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0C60FE-13BB-4DB8-A999-F400E7AEB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89535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52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352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352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352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352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352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352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352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352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352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lnSpc>
                <a:spcPct val="104000"/>
              </a:lnSpc>
              <a:buNone/>
              <a:defRPr sz="352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52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rPr>
              <a:t>이미지 기반 제품 결함 판정 및</a:t>
            </a:r>
          </a:p>
          <a:p xmlns:a="http://schemas.openxmlformats.org/drawingml/2006/main">
            <a:pPr>
              <a:lnSpc>
                <a:spcPct val="104000"/>
              </a:lnSpc>
              <a:buNone/>
              <a:defRPr sz="352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52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rPr>
              <a:t>근거 교차 검증 멀티에이전트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9998EF-D005-4C2C-B7B8-FA04AF244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957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650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rPr>
              <a:t>VLM 관찰을 검사 기준서, 결정 규칙, 사람 승인으로 검증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684D34-B77E-439F-8A9C-D2D822AB5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43450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D1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964982-40CD-471E-90AB-0F727BA8F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482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00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00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00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00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00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00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00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00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00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rPr>
              <a:t>광주 4반  G123  신민서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58CB06-CFDD-4ACD-948E-240A480A5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673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050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050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050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050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050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050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050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050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050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050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050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rPr>
              <a:t>2026.10.22</a:t>
            </a:r>
          </a:p>
        </p:txBody>
      </p:sp>
    </p:spTree>
    <p:extLst>
      <p:ext uri="{BB962C8B-B14F-4D97-AF65-F5344CB8AC3E}">
        <p14:creationId xmlns:p14="http://schemas.microsoft.com/office/powerpoint/2010/main" val="909778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DDF31A-650F-424A-AB06-1217DE7A6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9B87F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975" b="1">
                <a:solidFill>
                  <a:srgbClr val="9B87F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975" b="1">
                <a:solidFill>
                  <a:srgbClr val="9B87F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975" b="1">
                <a:solidFill>
                  <a:srgbClr val="9B87F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975" b="1">
                <a:solidFill>
                  <a:srgbClr val="9B87F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975" b="1">
                <a:solidFill>
                  <a:srgbClr val="9B87F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975" b="1">
                <a:solidFill>
                  <a:srgbClr val="9B87F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975" b="1">
                <a:solidFill>
                  <a:srgbClr val="9B87F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975" b="1">
                <a:solidFill>
                  <a:srgbClr val="9B87F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975" b="1">
                <a:solidFill>
                  <a:srgbClr val="9B87F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9B87F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1">
                <a:solidFill>
                  <a:srgbClr val="9B87F5"/>
                </a:solidFill>
                <a:latin typeface="Noto Sans CJK KR"/>
                <a:ea typeface="Noto Sans CJK KR"/>
                <a:cs typeface="Noto Sans CJK KR"/>
              </a:rPr>
              <a:t>IMPLEMENTATION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9AA044-2FA8-4DCA-91D7-E205FE9BB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19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550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550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550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550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550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550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550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550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550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rPr>
              <a:t>이미지 하나로 판정하지 않는다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68CB25-D8AF-40C0-B9AE-D95386DA2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C9378B-F47B-4599-AF23-66F8952CD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293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00" b="1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defPPr>
            <a:lvl1pPr algn="r">
              <a:defRPr sz="900" b="1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1pPr>
            <a:lvl2pPr algn="r">
              <a:defRPr sz="900" b="1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2pPr>
            <a:lvl3pPr algn="r">
              <a:defRPr sz="900" b="1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3pPr>
            <a:lvl4pPr algn="r">
              <a:defRPr sz="900" b="1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4pPr>
            <a:lvl5pPr algn="r">
              <a:defRPr sz="900" b="1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5pPr>
            <a:lvl6pPr algn="r">
              <a:defRPr sz="900" b="1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6pPr>
            <a:lvl7pPr algn="r">
              <a:defRPr sz="900" b="1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7pPr>
            <a:lvl8pPr algn="r">
              <a:defRPr sz="900" b="1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8pPr>
            <a:lvl9pPr algn="r">
              <a:defRPr sz="900" b="1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00" b="1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77E82B-1E47-4FB2-8E45-4AB0BD0A1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9B87F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125" b="1">
                <a:solidFill>
                  <a:srgbClr val="9B87F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125" b="1">
                <a:solidFill>
                  <a:srgbClr val="9B87F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125" b="1">
                <a:solidFill>
                  <a:srgbClr val="9B87F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125" b="1">
                <a:solidFill>
                  <a:srgbClr val="9B87F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125" b="1">
                <a:solidFill>
                  <a:srgbClr val="9B87F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125" b="1">
                <a:solidFill>
                  <a:srgbClr val="9B87F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125" b="1">
                <a:solidFill>
                  <a:srgbClr val="9B87F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125" b="1">
                <a:solidFill>
                  <a:srgbClr val="9B87F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125" b="1">
                <a:solidFill>
                  <a:srgbClr val="9B87F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9B87F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1">
                <a:solidFill>
                  <a:srgbClr val="9B87F5"/>
                </a:solidFill>
                <a:latin typeface="Noto Sans CJK KR"/>
                <a:ea typeface="Noto Sans CJK KR"/>
                <a:cs typeface="Noto Sans CJK KR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2A00F2-8E55-4FBC-994D-3CFD6B6F3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53352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42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42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42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42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42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42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42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42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42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rPr>
              <a:t>Observer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03F7A1-003C-4352-B805-30093F0E3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19275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050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050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050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050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050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050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050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050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050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050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050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rPr>
              <a:t>전체 이미지와 분할 이미지 관찰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C6B55C-728A-4FDD-BAB3-CE4D6FE39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9B87F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125" b="1">
                <a:solidFill>
                  <a:srgbClr val="9B87F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125" b="1">
                <a:solidFill>
                  <a:srgbClr val="9B87F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125" b="1">
                <a:solidFill>
                  <a:srgbClr val="9B87F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125" b="1">
                <a:solidFill>
                  <a:srgbClr val="9B87F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125" b="1">
                <a:solidFill>
                  <a:srgbClr val="9B87F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125" b="1">
                <a:solidFill>
                  <a:srgbClr val="9B87F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125" b="1">
                <a:solidFill>
                  <a:srgbClr val="9B87F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125" b="1">
                <a:solidFill>
                  <a:srgbClr val="9B87F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125" b="1">
                <a:solidFill>
                  <a:srgbClr val="9B87F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9B87F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1">
                <a:solidFill>
                  <a:srgbClr val="9B87F5"/>
                </a:solidFill>
                <a:latin typeface="Noto Sans CJK KR"/>
                <a:ea typeface="Noto Sans CJK KR"/>
                <a:cs typeface="Noto Sans CJK KR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01629D-B5A3-49A1-AB05-ED2FA14E5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7172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42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42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42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42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42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42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42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42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42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rPr>
              <a:t>Cross-Checker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37A29C-532E-4304-B2DC-BAFFD9C4D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57475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050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050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050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050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050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050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050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050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050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050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050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rPr>
              <a:t>반전 이미지로 6개 항목 재확인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A5A6B5-5F78-41F3-812D-4B9D42B84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9B87F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125" b="1">
                <a:solidFill>
                  <a:srgbClr val="9B87F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125" b="1">
                <a:solidFill>
                  <a:srgbClr val="9B87F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125" b="1">
                <a:solidFill>
                  <a:srgbClr val="9B87F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125" b="1">
                <a:solidFill>
                  <a:srgbClr val="9B87F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125" b="1">
                <a:solidFill>
                  <a:srgbClr val="9B87F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125" b="1">
                <a:solidFill>
                  <a:srgbClr val="9B87F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125" b="1">
                <a:solidFill>
                  <a:srgbClr val="9B87F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125" b="1">
                <a:solidFill>
                  <a:srgbClr val="9B87F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125" b="1">
                <a:solidFill>
                  <a:srgbClr val="9B87F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9B87F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1">
                <a:solidFill>
                  <a:srgbClr val="9B87F5"/>
                </a:solidFill>
                <a:latin typeface="Noto Sans CJK KR"/>
                <a:ea typeface="Noto Sans CJK KR"/>
                <a:cs typeface="Noto Sans CJK KR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F19A39-3AE0-4599-8FDB-1A9106DF0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0992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42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42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42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42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42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42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42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42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42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rPr>
              <a:t>Spec-Judge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6F9D40-8301-4EBD-88D6-3B3D35C37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95675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050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050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050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050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050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050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050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050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050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050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050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rPr>
              <a:t>검사 기준서 top 3 검색 후 조항 판단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03DB92-0951-465F-8E5A-5B920EC4D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9B87F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125" b="1">
                <a:solidFill>
                  <a:srgbClr val="9B87F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125" b="1">
                <a:solidFill>
                  <a:srgbClr val="9B87F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125" b="1">
                <a:solidFill>
                  <a:srgbClr val="9B87F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125" b="1">
                <a:solidFill>
                  <a:srgbClr val="9B87F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125" b="1">
                <a:solidFill>
                  <a:srgbClr val="9B87F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125" b="1">
                <a:solidFill>
                  <a:srgbClr val="9B87F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125" b="1">
                <a:solidFill>
                  <a:srgbClr val="9B87F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125" b="1">
                <a:solidFill>
                  <a:srgbClr val="9B87F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125" b="1">
                <a:solidFill>
                  <a:srgbClr val="9B87F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9B87F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1">
                <a:solidFill>
                  <a:srgbClr val="9B87F5"/>
                </a:solidFill>
                <a:latin typeface="Noto Sans CJK KR"/>
                <a:ea typeface="Noto Sans CJK KR"/>
                <a:cs typeface="Noto Sans CJK KR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37D6D8-22F8-4EA9-8FAC-4DCF3F3D4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4812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42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42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42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42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42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42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42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42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42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rPr>
              <a:t>Decision Table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310DF0-A00B-45F3-829F-F2AD04484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33875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050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050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050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050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050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050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050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050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050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050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050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rPr>
              <a:t>PASS, REJECT, ABSTAIN 코드 결정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5333C6-27C9-4FCA-B48D-9F3B1E0B8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9B87F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125" b="1">
                <a:solidFill>
                  <a:srgbClr val="9B87F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125" b="1">
                <a:solidFill>
                  <a:srgbClr val="9B87F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125" b="1">
                <a:solidFill>
                  <a:srgbClr val="9B87F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125" b="1">
                <a:solidFill>
                  <a:srgbClr val="9B87F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125" b="1">
                <a:solidFill>
                  <a:srgbClr val="9B87F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125" b="1">
                <a:solidFill>
                  <a:srgbClr val="9B87F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125" b="1">
                <a:solidFill>
                  <a:srgbClr val="9B87F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125" b="1">
                <a:solidFill>
                  <a:srgbClr val="9B87F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125" b="1">
                <a:solidFill>
                  <a:srgbClr val="9B87F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9B87F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1">
                <a:solidFill>
                  <a:srgbClr val="9B87F5"/>
                </a:solidFill>
                <a:latin typeface="Noto Sans CJK KR"/>
                <a:ea typeface="Noto Sans CJK KR"/>
                <a:cs typeface="Noto Sans CJK KR"/>
              </a:rPr>
              <a:t>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A19E75-0EFD-466B-8885-D4FDD4BA5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8632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42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42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42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42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42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42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42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42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42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rPr>
              <a:t>HITL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4D92D8-0A35-4BB9-8061-E86D8D352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72075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050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050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050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050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050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050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050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050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050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050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050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rPr>
              <a:t>사람 승인 또는 반려 후 보고서 검증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5BDEB2-011D-4917-8D20-B7B54AD6D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419225"/>
            <a:ext cx="3886200" cy="46482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1B2438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DAAC89-2539-486E-865E-9DA4F0C8875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e13e1fc8034a5f"/>
          <a:stretch xmlns:a="http://schemas.openxmlformats.org/drawingml/2006/main"/>
        </p:blipFill>
        <p:spPr>
          <a:xfrm xmlns:a="http://schemas.openxmlformats.org/drawingml/2006/main">
            <a:off x="7816870" y="1466850"/>
            <a:ext cx="3016210" cy="4552950"/>
          </a:xfrm>
          <a:prstGeom xmlns:a="http://schemas.openxmlformats.org/drawingml/2006/main" prst="roundRect">
            <a:avLst>
              <a:gd name="adj" fmla="val 2010"/>
            </a:avLst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AF85B8-C4D2-41D2-8F40-7DA848D37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43D19E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050" b="1">
                <a:solidFill>
                  <a:srgbClr val="43D19E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050" b="1">
                <a:solidFill>
                  <a:srgbClr val="43D19E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050" b="1">
                <a:solidFill>
                  <a:srgbClr val="43D19E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050" b="1">
                <a:solidFill>
                  <a:srgbClr val="43D19E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050" b="1">
                <a:solidFill>
                  <a:srgbClr val="43D19E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050" b="1">
                <a:solidFill>
                  <a:srgbClr val="43D19E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050" b="1">
                <a:solidFill>
                  <a:srgbClr val="43D19E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050" b="1">
                <a:solidFill>
                  <a:srgbClr val="43D19E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050" b="1">
                <a:solidFill>
                  <a:srgbClr val="43D19E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43D19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050" b="1">
                <a:solidFill>
                  <a:srgbClr val="43D19E"/>
                </a:solidFill>
                <a:latin typeface="Noto Sans CJK KR"/>
                <a:ea typeface="Noto Sans CJK KR"/>
                <a:cs typeface="Noto Sans CJK KR"/>
              </a:rPr>
              <a:t>LangGraph   Vision MCP   RAG   DI   LangSmith   SQLite</a:t>
            </a:r>
          </a:p>
        </p:txBody>
      </p:sp>
    </p:spTree>
    <p:extLst>
      <p:ext uri="{BB962C8B-B14F-4D97-AF65-F5344CB8AC3E}">
        <p14:creationId xmlns:p14="http://schemas.microsoft.com/office/powerpoint/2010/main" val="5937531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D6C3AA-8FAE-4670-A720-2B478B241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9B87F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975" b="1">
                <a:solidFill>
                  <a:srgbClr val="9B87F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975" b="1">
                <a:solidFill>
                  <a:srgbClr val="9B87F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975" b="1">
                <a:solidFill>
                  <a:srgbClr val="9B87F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975" b="1">
                <a:solidFill>
                  <a:srgbClr val="9B87F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975" b="1">
                <a:solidFill>
                  <a:srgbClr val="9B87F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975" b="1">
                <a:solidFill>
                  <a:srgbClr val="9B87F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975" b="1">
                <a:solidFill>
                  <a:srgbClr val="9B87F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975" b="1">
                <a:solidFill>
                  <a:srgbClr val="9B87F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975" b="1">
                <a:solidFill>
                  <a:srgbClr val="9B87F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9B87F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1">
                <a:solidFill>
                  <a:srgbClr val="9B87F5"/>
                </a:solidFill>
                <a:latin typeface="Noto Sans CJK KR"/>
                <a:ea typeface="Noto Sans CJK KR"/>
                <a:cs typeface="Noto Sans CJK KR"/>
              </a:rPr>
              <a:t>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A92CC9-FDF0-4DCA-9B4C-8523C2D62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19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550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550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550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550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550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550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550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550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550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rPr>
              <a:t>이미지 입력부터 사람 승인, 최종 보고서까지 나온다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C41224-8E8F-4D49-9B48-2F6CD101E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27EEB1-2789-4BA2-97D1-BC042F5B7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293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00" b="1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defPPr>
            <a:lvl1pPr algn="r">
              <a:defRPr sz="900" b="1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1pPr>
            <a:lvl2pPr algn="r">
              <a:defRPr sz="900" b="1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2pPr>
            <a:lvl3pPr algn="r">
              <a:defRPr sz="900" b="1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3pPr>
            <a:lvl4pPr algn="r">
              <a:defRPr sz="900" b="1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4pPr>
            <a:lvl5pPr algn="r">
              <a:defRPr sz="900" b="1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5pPr>
            <a:lvl6pPr algn="r">
              <a:defRPr sz="900" b="1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6pPr>
            <a:lvl7pPr algn="r">
              <a:defRPr sz="900" b="1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7pPr>
            <a:lvl8pPr algn="r">
              <a:defRPr sz="900" b="1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8pPr>
            <a:lvl9pPr algn="r">
              <a:defRPr sz="900" b="1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00" b="1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FEAC4D-1DDF-47CA-AD1E-6F7BDEB02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42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defPPr>
            <a:lvl1pPr algn="ctr">
              <a:defRPr sz="142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1pPr>
            <a:lvl2pPr algn="ctr">
              <a:defRPr sz="142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2pPr>
            <a:lvl3pPr algn="ctr">
              <a:defRPr sz="142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3pPr>
            <a:lvl4pPr algn="ctr">
              <a:defRPr sz="142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4pPr>
            <a:lvl5pPr algn="ctr">
              <a:defRPr sz="142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5pPr>
            <a:lvl6pPr algn="ctr">
              <a:defRPr sz="142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6pPr>
            <a:lvl7pPr algn="ctr">
              <a:defRPr sz="142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7pPr>
            <a:lvl8pPr algn="ctr">
              <a:defRPr sz="142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8pPr>
            <a:lvl9pPr algn="ctr">
              <a:defRPr sz="142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rPr>
              <a:t>이미지 입력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4255C3-5ECC-4A8E-BBD6-9780E5741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876425"/>
            <a:ext cx="3238500" cy="40767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1B2438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1AB4A9-72B0-46B7-824C-3C15D1F8A41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c582c0d92b4bbe"/>
          <a:stretch xmlns:a="http://schemas.openxmlformats.org/drawingml/2006/main"/>
        </p:blipFill>
        <p:spPr>
          <a:xfrm xmlns:a="http://schemas.openxmlformats.org/drawingml/2006/main">
            <a:off x="866595" y="1924050"/>
            <a:ext cx="2629259" cy="3981450"/>
          </a:xfrm>
          <a:prstGeom xmlns:a="http://schemas.openxmlformats.org/drawingml/2006/main" prst="roundRect">
            <a:avLst>
              <a:gd name="adj" fmla="val 2424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F84AB5-D0B1-4C2F-989F-F4B2AD313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4859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42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defPPr>
            <a:lvl1pPr algn="ctr">
              <a:defRPr sz="142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1pPr>
            <a:lvl2pPr algn="ctr">
              <a:defRPr sz="142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2pPr>
            <a:lvl3pPr algn="ctr">
              <a:defRPr sz="142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3pPr>
            <a:lvl4pPr algn="ctr">
              <a:defRPr sz="142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4pPr>
            <a:lvl5pPr algn="ctr">
              <a:defRPr sz="142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5pPr>
            <a:lvl6pPr algn="ctr">
              <a:defRPr sz="142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6pPr>
            <a:lvl7pPr algn="ctr">
              <a:defRPr sz="142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7pPr>
            <a:lvl8pPr algn="ctr">
              <a:defRPr sz="142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8pPr>
            <a:lvl9pPr algn="ctr">
              <a:defRPr sz="142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rPr>
              <a:t>사람 승인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C34EB2-D0E9-428A-8AFE-716CDDEEB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876425"/>
            <a:ext cx="3238500" cy="40767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1B2438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57CE54-6740-4149-AF0B-8C76BD7739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06f8c5ffb04657"/>
          <a:stretch xmlns:a="http://schemas.openxmlformats.org/drawingml/2006/main"/>
        </p:blipFill>
        <p:spPr>
          <a:xfrm xmlns:a="http://schemas.openxmlformats.org/drawingml/2006/main">
            <a:off x="4567647" y="1924050"/>
            <a:ext cx="2637606" cy="3981450"/>
          </a:xfrm>
          <a:prstGeom xmlns:a="http://schemas.openxmlformats.org/drawingml/2006/main" prst="roundRect">
            <a:avLst>
              <a:gd name="adj" fmla="val 2424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C00FD2-6B38-48B0-A6B9-FB3DE254A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4859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42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defPPr>
            <a:lvl1pPr algn="ctr">
              <a:defRPr sz="142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1pPr>
            <a:lvl2pPr algn="ctr">
              <a:defRPr sz="142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2pPr>
            <a:lvl3pPr algn="ctr">
              <a:defRPr sz="142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3pPr>
            <a:lvl4pPr algn="ctr">
              <a:defRPr sz="142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4pPr>
            <a:lvl5pPr algn="ctr">
              <a:defRPr sz="142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5pPr>
            <a:lvl6pPr algn="ctr">
              <a:defRPr sz="142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6pPr>
            <a:lvl7pPr algn="ctr">
              <a:defRPr sz="142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7pPr>
            <a:lvl8pPr algn="ctr">
              <a:defRPr sz="142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8pPr>
            <a:lvl9pPr algn="ctr">
              <a:defRPr sz="142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rPr>
              <a:t>최종 보고서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F16385-CA78-4B8F-90BF-5B8568F84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1876425"/>
            <a:ext cx="3238500" cy="40767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1B2438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1A2471-53A6-4079-AF4C-56C1D8BF1F2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174e16ca3342fc"/>
          <a:stretch xmlns:a="http://schemas.openxmlformats.org/drawingml/2006/main"/>
        </p:blipFill>
        <p:spPr>
          <a:xfrm xmlns:a="http://schemas.openxmlformats.org/drawingml/2006/main">
            <a:off x="8272872" y="1924050"/>
            <a:ext cx="2637606" cy="3981450"/>
          </a:xfrm>
          <a:prstGeom xmlns:a="http://schemas.openxmlformats.org/drawingml/2006/main" prst="roundRect">
            <a:avLst>
              <a:gd name="adj" fmla="val 2424"/>
            </a:avLst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F2BC74-AA66-4245-B083-2F47FC6C7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975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975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975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975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975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975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975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975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975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975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rPr>
              <a:t>화면은 fake 백엔드로 기능 흐름을 재현한 것이다. 성능 수치는 다음 슬라이드에 있다.</a:t>
            </a:r>
          </a:p>
        </p:txBody>
      </p:sp>
    </p:spTree>
    <p:extLst>
      <p:ext uri="{BB962C8B-B14F-4D97-AF65-F5344CB8AC3E}">
        <p14:creationId xmlns:p14="http://schemas.microsoft.com/office/powerpoint/2010/main" val="304435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E5D759-4EF4-428B-BEA4-21388582B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9B87F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975" b="1">
                <a:solidFill>
                  <a:srgbClr val="9B87F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975" b="1">
                <a:solidFill>
                  <a:srgbClr val="9B87F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975" b="1">
                <a:solidFill>
                  <a:srgbClr val="9B87F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975" b="1">
                <a:solidFill>
                  <a:srgbClr val="9B87F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975" b="1">
                <a:solidFill>
                  <a:srgbClr val="9B87F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975" b="1">
                <a:solidFill>
                  <a:srgbClr val="9B87F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975" b="1">
                <a:solidFill>
                  <a:srgbClr val="9B87F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975" b="1">
                <a:solidFill>
                  <a:srgbClr val="9B87F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975" b="1">
                <a:solidFill>
                  <a:srgbClr val="9B87F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9B87F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1">
                <a:solidFill>
                  <a:srgbClr val="9B87F5"/>
                </a:solidFill>
                <a:latin typeface="Noto Sans CJK KR"/>
                <a:ea typeface="Noto Sans CJK KR"/>
                <a:cs typeface="Noto Sans CJK KR"/>
              </a:rPr>
              <a:t>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66B7B9-8BD2-4E8A-AFFD-D68ED2DD7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19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550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550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550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550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550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550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550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550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550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rPr>
              <a:t>실모델에서는 전체 에이전트가 단독 VLM보다 정확도가 낮았다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91FCA5-409F-48D5-BB1A-4776BF98D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CB5CF5-16AD-414F-80A4-26F9D12B8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293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00" b="1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defPPr>
            <a:lvl1pPr algn="r">
              <a:defRPr sz="900" b="1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1pPr>
            <a:lvl2pPr algn="r">
              <a:defRPr sz="900" b="1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2pPr>
            <a:lvl3pPr algn="r">
              <a:defRPr sz="900" b="1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3pPr>
            <a:lvl4pPr algn="r">
              <a:defRPr sz="900" b="1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4pPr>
            <a:lvl5pPr algn="r">
              <a:defRPr sz="900" b="1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5pPr>
            <a:lvl6pPr algn="r">
              <a:defRPr sz="900" b="1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6pPr>
            <a:lvl7pPr algn="r">
              <a:defRPr sz="900" b="1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7pPr>
            <a:lvl8pPr algn="r">
              <a:defRPr sz="900" b="1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8pPr>
            <a:lvl9pPr algn="r">
              <a:defRPr sz="900" b="1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00" b="1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3C21B1-CC6D-4447-89B2-5A6815FEB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6572250" cy="4229100"/>
          </a:xfrm>
          <a:prstGeom xmlns:a="http://schemas.openxmlformats.org/drawingml/2006/main" prst="roundRect">
            <a:avLst>
              <a:gd name="adj" fmla="val 2703"/>
            </a:avLst>
          </a:prstGeom>
          <a:solidFill xmlns:a="http://schemas.openxmlformats.org/drawingml/2006/main">
            <a:srgbClr val="141B2D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5A1543DC-4716-4A1B-AB32-F6E71A78CD61}"/>
              </a:ext>
            </a:extLst>
          </p:cNvPr>
          <p:cNvGraphicFramePr/>
          <p:nvPr/>
        </p:nvGraphicFramePr>
        <p:xfrm>
          <a:off xmlns:a="http://schemas.openxmlformats.org/drawingml/2006/main" x="895350" y="1695450"/>
          <a:ext xmlns:a="http://schemas.openxmlformats.org/drawingml/2006/main" cx="6000750" cy="3638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7ae80c3ff9b4ad0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B132BA-2A89-435A-A917-AD66F8993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5240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43D19E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050" b="1">
                <a:solidFill>
                  <a:srgbClr val="43D19E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050" b="1">
                <a:solidFill>
                  <a:srgbClr val="43D19E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050" b="1">
                <a:solidFill>
                  <a:srgbClr val="43D19E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050" b="1">
                <a:solidFill>
                  <a:srgbClr val="43D19E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050" b="1">
                <a:solidFill>
                  <a:srgbClr val="43D19E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050" b="1">
                <a:solidFill>
                  <a:srgbClr val="43D19E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050" b="1">
                <a:solidFill>
                  <a:srgbClr val="43D19E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050" b="1">
                <a:solidFill>
                  <a:srgbClr val="43D19E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050" b="1">
                <a:solidFill>
                  <a:srgbClr val="43D19E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43D19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050" b="1">
                <a:solidFill>
                  <a:srgbClr val="43D19E"/>
                </a:solidFill>
                <a:latin typeface="Noto Sans CJK KR"/>
                <a:ea typeface="Noto Sans CJK KR"/>
                <a:cs typeface="Noto Sans CJK KR"/>
              </a:rPr>
              <a:t>Ollama  qwen2.5vl:3b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FC8B1E-1A03-4D01-9B31-A188560E3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52625"/>
            <a:ext cx="1571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32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32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32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32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32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32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32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32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32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rPr>
              <a:t>52장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9E45E8-F0FA-4791-8CB7-5CA7F142E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09825"/>
            <a:ext cx="1571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125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125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125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125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125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125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125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125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125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125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rPr>
              <a:t>dev 전체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12C7CB-8F1E-4CBA-8BA7-730509A80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952625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F5B84B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325" b="1">
                <a:solidFill>
                  <a:srgbClr val="F5B84B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325" b="1">
                <a:solidFill>
                  <a:srgbClr val="F5B84B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325" b="1">
                <a:solidFill>
                  <a:srgbClr val="F5B84B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325" b="1">
                <a:solidFill>
                  <a:srgbClr val="F5B84B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325" b="1">
                <a:solidFill>
                  <a:srgbClr val="F5B84B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325" b="1">
                <a:solidFill>
                  <a:srgbClr val="F5B84B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325" b="1">
                <a:solidFill>
                  <a:srgbClr val="F5B84B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325" b="1">
                <a:solidFill>
                  <a:srgbClr val="F5B84B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325" b="1">
                <a:solidFill>
                  <a:srgbClr val="F5B84B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F5B84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1">
                <a:solidFill>
                  <a:srgbClr val="F5B84B"/>
                </a:solidFill>
                <a:latin typeface="Noto Sans CJK KR"/>
                <a:ea typeface="Noto Sans CJK KR"/>
                <a:cs typeface="Noto Sans CJK KR"/>
              </a:rPr>
              <a:t>29건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DFF634-61C9-4782-BD97-988B73CBC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40982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125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125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125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125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125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125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125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125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125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125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rPr>
              <a:t>B0 ABSTAIN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B6E5A0-F886-43A5-BD41-2DFA00945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990850"/>
            <a:ext cx="1571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FF6B6B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325" b="1">
                <a:solidFill>
                  <a:srgbClr val="FF6B6B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325" b="1">
                <a:solidFill>
                  <a:srgbClr val="FF6B6B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325" b="1">
                <a:solidFill>
                  <a:srgbClr val="FF6B6B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325" b="1">
                <a:solidFill>
                  <a:srgbClr val="FF6B6B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325" b="1">
                <a:solidFill>
                  <a:srgbClr val="FF6B6B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325" b="1">
                <a:solidFill>
                  <a:srgbClr val="FF6B6B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325" b="1">
                <a:solidFill>
                  <a:srgbClr val="FF6B6B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325" b="1">
                <a:solidFill>
                  <a:srgbClr val="FF6B6B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325" b="1">
                <a:solidFill>
                  <a:srgbClr val="FF6B6B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FF6B6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1">
                <a:solidFill>
                  <a:srgbClr val="FF6B6B"/>
                </a:solidFill>
                <a:latin typeface="Noto Sans CJK KR"/>
                <a:ea typeface="Noto Sans CJK KR"/>
                <a:cs typeface="Noto Sans CJK KR"/>
              </a:rPr>
              <a:t>41건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49106A-D58E-4D99-9208-EF29786E3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48050"/>
            <a:ext cx="1571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125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125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125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125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125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125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125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125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125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125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rPr>
              <a:t>A ABSTAIN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249CE3-07D4-4129-A663-06390C51D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9908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FF6B6B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325" b="1">
                <a:solidFill>
                  <a:srgbClr val="FF6B6B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325" b="1">
                <a:solidFill>
                  <a:srgbClr val="FF6B6B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325" b="1">
                <a:solidFill>
                  <a:srgbClr val="FF6B6B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325" b="1">
                <a:solidFill>
                  <a:srgbClr val="FF6B6B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325" b="1">
                <a:solidFill>
                  <a:srgbClr val="FF6B6B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325" b="1">
                <a:solidFill>
                  <a:srgbClr val="FF6B6B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325" b="1">
                <a:solidFill>
                  <a:srgbClr val="FF6B6B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325" b="1">
                <a:solidFill>
                  <a:srgbClr val="FF6B6B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325" b="1">
                <a:solidFill>
                  <a:srgbClr val="FF6B6B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FF6B6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1">
                <a:solidFill>
                  <a:srgbClr val="FF6B6B"/>
                </a:solidFill>
                <a:latin typeface="Noto Sans CJK KR"/>
                <a:ea typeface="Noto Sans CJK KR"/>
                <a:cs typeface="Noto Sans CJK KR"/>
              </a:rPr>
              <a:t>0 / 28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1370E2-56D1-4E9F-8AA9-51CA0107E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4480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125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125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125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125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125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125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125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125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125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125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rPr>
              <a:t>A 결함 정답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137E1B-E6C6-411D-B8AD-CB4B6DDF7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95750"/>
            <a:ext cx="36766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B2438"/>
          </a:solidFill>
          <a:ln xmlns:a="http://schemas.openxmlformats.org/drawingml/2006/main" w="9525">
            <a:solidFill>
              <a:srgbClr val="FF6B6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B14CA6-C7C8-46B8-91B8-6A41B22AE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267200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975" b="1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975" b="1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975" b="1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975" b="1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975" b="1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975" b="1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975" b="1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975" b="1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975" b="1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1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rPr>
              <a:t>가설 판정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448354-865B-4F19-A68A-EED051C1A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5148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FF6B6B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75" b="1">
                <a:solidFill>
                  <a:srgbClr val="FF6B6B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75" b="1">
                <a:solidFill>
                  <a:srgbClr val="FF6B6B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75" b="1">
                <a:solidFill>
                  <a:srgbClr val="FF6B6B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75" b="1">
                <a:solidFill>
                  <a:srgbClr val="FF6B6B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75" b="1">
                <a:solidFill>
                  <a:srgbClr val="FF6B6B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75" b="1">
                <a:solidFill>
                  <a:srgbClr val="FF6B6B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75" b="1">
                <a:solidFill>
                  <a:srgbClr val="FF6B6B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75" b="1">
                <a:solidFill>
                  <a:srgbClr val="FF6B6B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75" b="1">
                <a:solidFill>
                  <a:srgbClr val="FF6B6B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F6B6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FF6B6B"/>
                </a:solidFill>
                <a:latin typeface="Noto Sans CJK KR"/>
                <a:ea typeface="Noto Sans CJK KR"/>
                <a:cs typeface="Noto Sans CJK KR"/>
              </a:rPr>
              <a:t>NO-GO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B8508D-C9A5-4A8C-80F3-8F805C0B1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219700"/>
            <a:ext cx="3810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200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200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200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200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200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200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200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200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200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00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rPr>
              <a:t>3B VLM이 미세 결함을 놓치면</a:t>
            </a:r>
          </a:p>
          <a:p xmlns:a="http://schemas.openxmlformats.org/drawingml/2006/main">
            <a:pPr>
              <a:defRPr sz="1200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00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rPr>
              <a:t>RAG는 픽셀 정보를 복구하지 못한다.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905CC1-40C2-4F4F-846B-3F08E2C0F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72175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975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975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975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975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975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975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975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975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975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975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rPr>
              <a:t>정확도는 오류, 누락, ABSTAIN을 52건 전체 분모에 포함해 계산했다.</a:t>
            </a:r>
          </a:p>
        </p:txBody>
      </p:sp>
    </p:spTree>
    <p:extLst>
      <p:ext uri="{BB962C8B-B14F-4D97-AF65-F5344CB8AC3E}">
        <p14:creationId xmlns:p14="http://schemas.microsoft.com/office/powerpoint/2010/main" val="8475041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B2F8974-413A-4C68-BE9B-BB92FADE9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9B87F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975" b="1">
                <a:solidFill>
                  <a:srgbClr val="9B87F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975" b="1">
                <a:solidFill>
                  <a:srgbClr val="9B87F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975" b="1">
                <a:solidFill>
                  <a:srgbClr val="9B87F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975" b="1">
                <a:solidFill>
                  <a:srgbClr val="9B87F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975" b="1">
                <a:solidFill>
                  <a:srgbClr val="9B87F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975" b="1">
                <a:solidFill>
                  <a:srgbClr val="9B87F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975" b="1">
                <a:solidFill>
                  <a:srgbClr val="9B87F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975" b="1">
                <a:solidFill>
                  <a:srgbClr val="9B87F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975" b="1">
                <a:solidFill>
                  <a:srgbClr val="9B87F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9B87F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1">
                <a:solidFill>
                  <a:srgbClr val="9B87F5"/>
                </a:solidFill>
                <a:latin typeface="Noto Sans CJK KR"/>
                <a:ea typeface="Noto Sans CJK KR"/>
                <a:cs typeface="Noto Sans CJK KR"/>
              </a:rPr>
              <a:t>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579ACD-7783-4300-8BF1-B5A7C686D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19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550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550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550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550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550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550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550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550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550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rPr>
              <a:t>구현은 완성했고, 병목을 모델로 좁혔다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5A5ED7-B95C-441F-BB4E-ACB8006BC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3C2065-470E-4F3C-8149-68FED8005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293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00" b="1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defPPr>
            <a:lvl1pPr algn="r">
              <a:defRPr sz="900" b="1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1pPr>
            <a:lvl2pPr algn="r">
              <a:defRPr sz="900" b="1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2pPr>
            <a:lvl3pPr algn="r">
              <a:defRPr sz="900" b="1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3pPr>
            <a:lvl4pPr algn="r">
              <a:defRPr sz="900" b="1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4pPr>
            <a:lvl5pPr algn="r">
              <a:defRPr sz="900" b="1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5pPr>
            <a:lvl6pPr algn="r">
              <a:defRPr sz="900" b="1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6pPr>
            <a:lvl7pPr algn="r">
              <a:defRPr sz="900" b="1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7pPr>
            <a:lvl8pPr algn="r">
              <a:defRPr sz="900" b="1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8pPr>
            <a:lvl9pPr algn="r">
              <a:defRPr sz="900" b="1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00" b="1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FB2C2C-5A94-49CC-A619-15C763949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3524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43D19E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1">
                <a:solidFill>
                  <a:srgbClr val="43D19E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1">
                <a:solidFill>
                  <a:srgbClr val="43D19E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1">
                <a:solidFill>
                  <a:srgbClr val="43D19E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1">
                <a:solidFill>
                  <a:srgbClr val="43D19E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1">
                <a:solidFill>
                  <a:srgbClr val="43D19E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1">
                <a:solidFill>
                  <a:srgbClr val="43D19E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1">
                <a:solidFill>
                  <a:srgbClr val="43D19E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1">
                <a:solidFill>
                  <a:srgbClr val="43D19E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1">
                <a:solidFill>
                  <a:srgbClr val="43D19E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43D19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43D19E"/>
                </a:solidFill>
                <a:latin typeface="Noto Sans CJK KR"/>
                <a:ea typeface="Noto Sans CJK KR"/>
                <a:cs typeface="Noto Sans CJK KR"/>
              </a:rPr>
              <a:t>이번에 확보한 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418BA3-0AFF-4D1A-93EB-63EE6D246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19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D1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FB7F9F-B3A9-41B9-AF9B-FD6CB8BE5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52650"/>
            <a:ext cx="423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275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275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275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275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275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275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275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275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275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275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rPr>
              <a:t>LangGraph 기반 멀티에이전트 파이프라인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4B13B2-EC3E-40EF-A321-6E9FADA2C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09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D1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8BF852-2B22-41B4-A68C-E1A7A18F0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423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275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275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275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275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275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275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275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275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275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275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rPr>
              <a:t>검사 기준서 인용과 코드 결정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119418-0693-46A5-BFF5-C2F427579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00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D1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681952-473A-4016-8F03-F4E36F5B5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423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275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275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275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275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275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275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275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275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275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275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rPr>
              <a:t>HITL 중단 및 재개 흐름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3AB765-012F-4B2D-9128-D2D6C5727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90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D1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08CC87-60A4-414F-A6F9-1FECA5508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24300"/>
            <a:ext cx="423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275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275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275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275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275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275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275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275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275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275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rPr>
              <a:t>전체 회귀 테스트 685건 통과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C37D05-11C4-4F97-A926-53F8599A7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81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D1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242074-2710-4F2E-8F32-54F71A7D9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14850"/>
            <a:ext cx="423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275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275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275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275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275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275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275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275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275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275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rPr>
              <a:t>B0와 A를 동일 이미지로 실측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DE1780-74E1-4B10-BBFE-1231A089C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192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9B87F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1">
                <a:solidFill>
                  <a:srgbClr val="9B87F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1">
                <a:solidFill>
                  <a:srgbClr val="9B87F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1">
                <a:solidFill>
                  <a:srgbClr val="9B87F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1">
                <a:solidFill>
                  <a:srgbClr val="9B87F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1">
                <a:solidFill>
                  <a:srgbClr val="9B87F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1">
                <a:solidFill>
                  <a:srgbClr val="9B87F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1">
                <a:solidFill>
                  <a:srgbClr val="9B87F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1">
                <a:solidFill>
                  <a:srgbClr val="9B87F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1">
                <a:solidFill>
                  <a:srgbClr val="9B87F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9B87F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9B87F5"/>
                </a:solidFill>
                <a:latin typeface="Noto Sans CJK KR"/>
                <a:ea typeface="Noto Sans CJK KR"/>
                <a:cs typeface="Noto Sans CJK KR"/>
              </a:rPr>
              <a:t>다음 구조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7F4655-2D99-4B5B-BA05-2AED56A60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52650"/>
            <a:ext cx="5143500" cy="23622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141B2D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6D83B0-51F5-413B-B861-3B8E28D4D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241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125" b="1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125" b="1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125" b="1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125" b="1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125" b="1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125" b="1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125" b="1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125" b="1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125" b="1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1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rPr>
              <a:t>역할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4E71CA-3123-42CB-8ACC-609B319B9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3241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125" b="1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125" b="1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125" b="1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125" b="1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125" b="1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125" b="1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125" b="1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125" b="1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125" b="1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1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rPr>
              <a:t>선택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F5EDD5-2D1A-4F7B-9F9A-BC00F5524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76525"/>
            <a:ext cx="4686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F3FF58-A0B8-4869-97F4-1AE4EEE54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67025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27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27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27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27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27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27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27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27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27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rPr>
              <a:t>결함 탐지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6C2F65-4D6A-4D71-A432-4EF3D4795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867025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275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275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275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275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275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275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275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275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275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275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rPr>
              <a:t>전용 이상탐지 모델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083536-D027-44A4-BA57-7FF7887E6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86125"/>
            <a:ext cx="4686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D0EAF4-E150-4CAE-ABA2-9E66265FB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419475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27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27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27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27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27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27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27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27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27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rPr>
              <a:t>설명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F171E5-5A94-4689-89A7-873A88FD1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419475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275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275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275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275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275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275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275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275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275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275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rPr>
              <a:t>VLM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01E2E3-B2BD-439A-95E9-B895162EB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38575"/>
            <a:ext cx="4686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A6CACA-CCDA-421B-9F1A-25159981B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971925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27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27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27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27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27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27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27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27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27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rPr>
              <a:t>판정 근거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0FE76A-ED40-457A-8A46-C3C4910C1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971925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275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275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275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275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275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275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275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275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275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275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rPr>
              <a:t>RAG, 코드 규칙, HITL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B971E70-460D-475D-9CAE-D06C2B2D8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33950"/>
            <a:ext cx="5143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350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350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350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350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350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350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350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350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350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rPr>
              <a:t>정확도 가설은 실패했다. 다만 비교로 병목을 시각 모델로 좁혔고,</a:t>
            </a:r>
          </a:p>
          <a:p xmlns:a="http://schemas.openxmlformats.org/drawingml/2006/main">
            <a:pPr>
              <a:defRPr sz="1350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F8FAFC"/>
                </a:solidFill>
                <a:latin typeface="Noto Sans CJK KR"/>
                <a:ea typeface="Noto Sans CJK KR"/>
                <a:cs typeface="Noto Sans CJK KR"/>
              </a:rPr>
              <a:t>가정을 모델 교체에 따라 검증한다.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EB69F8E-B7C6-4202-A1C3-1507482C9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975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975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975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975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975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975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975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975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975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975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>
                <a:solidFill>
                  <a:srgbClr val="A8B3C7"/>
                </a:solidFill>
                <a:latin typeface="Noto Sans CJK KR"/>
                <a:ea typeface="Noto Sans CJK KR"/>
                <a:cs typeface="Noto Sans CJK KR"/>
              </a:rPr>
              <a:t>완성된 구조는 그대로 남기고, 시각 모델을 교체하는 방향으로 간다.</a:t>
            </a:r>
          </a:p>
        </p:txBody>
      </p:sp>
    </p:spTree>
    <p:extLst>
      <p:ext uri="{BB962C8B-B14F-4D97-AF65-F5344CB8AC3E}">
        <p14:creationId xmlns:p14="http://schemas.microsoft.com/office/powerpoint/2010/main" val="15914034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2026-10-22T04:17:59.8470000Z</dcterms:created>
  <dcterms:modified xsi:type="dcterms:W3CDTF">2026-10-22T04:17:59.8470000Z</dcterms:modified>
</coreProperties>
</file>
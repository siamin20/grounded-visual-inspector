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59008422ba4128" /><Relationship Type="http://schemas.openxmlformats.org/officeDocument/2006/relationships/extended-properties" Target="/docProps/app.xml" Id="R4a98cf20d2f14993" /><Relationship Type="http://schemas.openxmlformats.org/officeDocument/2006/relationships/officeDocument" Target="/ppt/presentation.xml" Id="R623885900f4640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daa520c8a740c8"/>
  </p:sldMasterIdLst>
  <p:notesMasterIdLst>
    <p:notesMasterId xmlns:r="http://schemas.openxmlformats.org/officeDocument/2006/relationships" r:id="R8e5fd501886045a0"/>
  </p:notesMasterIdLst>
  <p:sldIdLst>
    <p:sldId xmlns:r="http://schemas.openxmlformats.org/officeDocument/2006/relationships" id="256" r:id="Ra4b78b439e8a4f9e"/>
    <p:sldId xmlns:r="http://schemas.openxmlformats.org/officeDocument/2006/relationships" id="257" r:id="R745de43b690c481d"/>
    <p:sldId xmlns:r="http://schemas.openxmlformats.org/officeDocument/2006/relationships" id="258" r:id="R237224f5d4424b2c"/>
    <p:sldId xmlns:r="http://schemas.openxmlformats.org/officeDocument/2006/relationships" id="259" r:id="Rfb6120cc61df4060"/>
    <p:sldId xmlns:r="http://schemas.openxmlformats.org/officeDocument/2006/relationships" id="260" r:id="R52961937cbba4f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8b681b52a84b73" /><Relationship Type="http://schemas.openxmlformats.org/officeDocument/2006/relationships/slideMaster" Target="/ppt/slideMasters/slideMaster1.xml" Id="R6ddaa520c8a740c8" /><Relationship Type="http://schemas.openxmlformats.org/officeDocument/2006/relationships/notesMaster" Target="/ppt/notesMasters/notesMaster1.xml" Id="R8e5fd501886045a0" /><Relationship Type="http://schemas.openxmlformats.org/officeDocument/2006/relationships/presProps" Target="/ppt/presProps.xml" Id="R0b256b0534be499d" /><Relationship Type="http://schemas.openxmlformats.org/officeDocument/2006/relationships/tableStyles" Target="/ppt/tableStyles.xml" Id="R26c137b506c94ed6" /><Relationship Type="http://schemas.openxmlformats.org/officeDocument/2006/relationships/slide" Target="/ppt/slides/slide1.xml" Id="Ra4b78b439e8a4f9e" /><Relationship Type="http://schemas.openxmlformats.org/officeDocument/2006/relationships/slide" Target="/ppt/slides/slide2.xml" Id="R745de43b690c481d" /><Relationship Type="http://schemas.openxmlformats.org/officeDocument/2006/relationships/slide" Target="/ppt/slides/slide3.xml" Id="R237224f5d4424b2c" /><Relationship Type="http://schemas.openxmlformats.org/officeDocument/2006/relationships/slide" Target="/ppt/slides/slide4.xml" Id="Rfb6120cc61df4060" /><Relationship Type="http://schemas.openxmlformats.org/officeDocument/2006/relationships/slide" Target="/ppt/slides/slide5.xml" Id="R52961937cbba4f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dbb5897a9148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ca1f0072ba4250" /><Relationship Type="http://schemas.openxmlformats.org/officeDocument/2006/relationships/notesMaster" Target="/ppt/notesMasters/notesMaster1.xml" Id="Rac8a9da7e0c44c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0b69f8bf2b4b6e" /><Relationship Type="http://schemas.openxmlformats.org/officeDocument/2006/relationships/notesMaster" Target="/ppt/notesMasters/notesMaster1.xml" Id="R972f6c7abf0740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fc28ea21134e81" /><Relationship Type="http://schemas.openxmlformats.org/officeDocument/2006/relationships/notesMaster" Target="/ppt/notesMasters/notesMaster1.xml" Id="R139cfe6e717c40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07d4691dd341a3" /><Relationship Type="http://schemas.openxmlformats.org/officeDocument/2006/relationships/notesMaster" Target="/ppt/notesMasters/notesMaster1.xml" Id="Rdb5c35f388804a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75a2b7a8af45c3" /><Relationship Type="http://schemas.openxmlformats.org/officeDocument/2006/relationships/notesMaster" Target="/ppt/notesMasters/notesMaster1.xml" Id="R525958594a7640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1aad95b4a4a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00671021d44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8735b14e8d4b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56176048c540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8ae95854a4d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09deba87434e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83892F-1E33-45A1-B4F3-3090745C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65BE8C5-2B9C-4041-B3D0-F5F7AFE072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EE33E2A-E451-420D-8F94-742E859ED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876B5D-EAA9-4291-86FE-19CEA1B2E3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D2EBAE9-DA34-4761-9493-896E50AC4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487BABA-C341-4EA9-97E4-59E45C5FA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212325F-939A-49C3-ACA8-B8CFF79556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7A192FA-16C2-4A16-BBC4-681C9B7138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E4CB36-3EF3-4C25-9533-186BF37EAD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6BB7F9-E67D-43F1-9AE4-95B9B48472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650187a0be4670" /><Relationship Type="http://schemas.openxmlformats.org/officeDocument/2006/relationships/slideLayout" Target="/ppt/slideLayouts/slideLayout1.xml" Id="Ree7f18909e834ffd" /><Relationship Type="http://schemas.openxmlformats.org/officeDocument/2006/relationships/slideLayout" Target="/ppt/slideLayouts/slideLayout2.xml" Id="R71850e10446040f8" /><Relationship Type="http://schemas.openxmlformats.org/officeDocument/2006/relationships/slideLayout" Target="/ppt/slideLayouts/slideLayout3.xml" Id="Rd7b7c9aaa5624dc7" /><Relationship Type="http://schemas.openxmlformats.org/officeDocument/2006/relationships/slideLayout" Target="/ppt/slideLayouts/slideLayout4.xml" Id="Rd92dc65f0c2849f6" /><Relationship Type="http://schemas.openxmlformats.org/officeDocument/2006/relationships/slideLayout" Target="/ppt/slideLayouts/slideLayout5.xml" Id="Rc1efc599d4274675" /><Relationship Type="http://schemas.openxmlformats.org/officeDocument/2006/relationships/slideLayout" Target="/ppt/slideLayouts/slideLayout6.xml" Id="Ra6a2bb6248654d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7f18909e834ffd"/>
    <p:sldLayoutId xmlns:r="http://schemas.openxmlformats.org/officeDocument/2006/relationships" id="2147483650" r:id="R71850e10446040f8"/>
    <p:sldLayoutId xmlns:r="http://schemas.openxmlformats.org/officeDocument/2006/relationships" id="2147483651" r:id="Rd7b7c9aaa5624dc7"/>
    <p:sldLayoutId xmlns:r="http://schemas.openxmlformats.org/officeDocument/2006/relationships" id="2147483652" r:id="Rd92dc65f0c2849f6"/>
    <p:sldLayoutId xmlns:r="http://schemas.openxmlformats.org/officeDocument/2006/relationships" id="2147483653" r:id="Rc1efc599d4274675"/>
    <p:sldLayoutId xmlns:r="http://schemas.openxmlformats.org/officeDocument/2006/relationships" id="2147483654" r:id="Ra6a2bb6248654d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648ce4ce714b58" /><Relationship Type="http://schemas.openxmlformats.org/officeDocument/2006/relationships/notesSlide" Target="/ppt/notesSlides/notesSlide1.xml" Id="Rd97e11f92c5c4e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38a26f21f84c0b" /><Relationship Type="http://schemas.openxmlformats.org/officeDocument/2006/relationships/image" Target="/ppt/media/image.jpeg" Id="R177fcfef2a6c4d41" /><Relationship Type="http://schemas.openxmlformats.org/officeDocument/2006/relationships/notesSlide" Target="/ppt/notesSlides/notesSlide2.xml" Id="R20561f1f88824c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5ef649cec42d0" /><Relationship Type="http://schemas.openxmlformats.org/officeDocument/2006/relationships/image" Target="/ppt/media/image2.jpeg" Id="R9720ac89c1204601" /><Relationship Type="http://schemas.openxmlformats.org/officeDocument/2006/relationships/image" Target="/ppt/media/image3.jpeg" Id="R0fcdb265fb584423" /><Relationship Type="http://schemas.openxmlformats.org/officeDocument/2006/relationships/image" Target="/ppt/media/image4.jpeg" Id="R7a0130141e86443c" /><Relationship Type="http://schemas.openxmlformats.org/officeDocument/2006/relationships/notesSlide" Target="/ppt/notesSlides/notesSlide3.xml" Id="R3ad40308a9014b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6262f28b644b5e" /><Relationship Type="http://schemas.openxmlformats.org/officeDocument/2006/relationships/chart" Target="/ppt/slides/charts/chart1.xml" Id="Rb39b6a8d0af847c3" /><Relationship Type="http://schemas.openxmlformats.org/officeDocument/2006/relationships/notesSlide" Target="/ppt/notesSlides/notesSlide4.xml" Id="R43bb615adfc949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e180036be94e21" /><Relationship Type="http://schemas.openxmlformats.org/officeDocument/2006/relationships/notesSlide" Target="/ppt/notesSlides/notesSlide5.xml" Id="R1035fc70a0ff4a9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A 전체 에이전트의 52건 처리 결과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F8FAFC"/>
              </a:solidFill>
              <a:latin typeface="Noto Sans CJK KR"/>
              <a:ea typeface="Noto Sans CJK KR"/>
              <a:cs typeface="Noto Sans CJK KR"/>
            </a:defRPr>
          </a:pPr>
        </a:p>
      </c:txPr>
    </c:title>
    <c:plotArea>
      <c:barChart>
        <c:barDir val="bar"/>
        <c:grouping val="stacked"/>
        <c:varyColors val="0"/>
        <c:ser>
          <c:idx val="0"/>
          <c:order val="0"/>
          <c:tx>
            <c:v>정답</c:v>
          </c:tx>
          <c:spPr>
            <a:solidFill xmlns:a="http://schemas.openxmlformats.org/drawingml/2006/main">
              <a:srgbClr val="43D19E"/>
            </a:solidFill>
          </c:spPr>
          <c:invertIfNegative val="0"/>
          <c:cat>
            <c:strRef>
              <c:f>'Chart Data'!$A$2:$A$2</c:f>
              <c:strCache>
                <c:ptCount val="1"/>
                <c:pt idx="0">
                  <c:v>전체 에이전트 A</c:v>
                </c:pt>
              </c:strCache>
            </c:strRef>
          </c:cat>
          <c:val>
            <c:numRef>
              <c:f>'Chart Data'!$B$2:$B$2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v>오답</c:v>
          </c:tx>
          <c:spPr>
            <a:solidFill xmlns:a="http://schemas.openxmlformats.org/drawingml/2006/main">
              <a:srgbClr val="FF6B6B"/>
            </a:solidFill>
          </c:spPr>
          <c:invertIfNegative val="0"/>
          <c:cat>
            <c:strRef>
              <c:f>'Chart Data'!$C$2:$C$2</c:f>
              <c:strCache>
                <c:ptCount val="1"/>
                <c:pt idx="0">
                  <c:v>전체 에이전트 A</c:v>
                </c:pt>
              </c:strCache>
            </c:strRef>
          </c:cat>
          <c:val>
            <c:numRef>
              <c:f>'Chart Data'!$D$2:$D$2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v>ABSTAIN</c:v>
          </c:tx>
          <c:spPr>
            <a:solidFill xmlns:a="http://schemas.openxmlformats.org/drawingml/2006/main">
              <a:srgbClr val="F5B84B"/>
            </a:solidFill>
          </c:spPr>
          <c:invertIfNegative val="0"/>
          <c:cat>
            <c:strRef>
              <c:f>'Chart Data'!$E$2:$E$2</c:f>
              <c:strCache>
                <c:ptCount val="1"/>
                <c:pt idx="0">
                  <c:v>전체 에이전트 A</c:v>
                </c:pt>
              </c:strCache>
            </c:strRef>
          </c:cat>
          <c:val>
            <c:numRef>
              <c:f>'Chart Data'!$F$2:$F$2</c:f>
              <c:numCache>
                <c:formatCode>General</c:formatCode>
                <c:ptCount val="1"/>
                <c:pt idx="0">
                  <c:v>41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F8FAFC"/>
                  </a:solidFill>
                  <a:latin typeface="Noto Sans CJK KR"/>
                  <a:ea typeface="Noto Sans CJK KR"/>
                  <a:cs typeface="Noto Sans CJK KR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334155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415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415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B1020"/>
        </a:solidFill>
        <a:ln xmlns:a="http://schemas.openxmlformats.org/drawingml/2006/main" w="0">
          <a:solidFill>
            <a:srgbClr val="0B1020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A8B3C7"/>
              </a:solidFill>
              <a:latin typeface="Noto Sans CJK KR"/>
              <a:ea typeface="Noto Sans CJK KR"/>
              <a:cs typeface="Noto Sans CJK KR"/>
            </a:defRPr>
          </a:pPr>
        </a:p>
      </c:txPr>
    </c:legend>
    <c:plotVisOnly val="1"/>
  </c:chart>
  <c:spPr>
    <a:solidFill xmlns:a="http://schemas.openxmlformats.org/drawingml/2006/main">
      <a:srgbClr val="0B1020"/>
    </a:solidFill>
    <a:ln xmlns:a="http://schemas.openxmlformats.org/drawingml/2006/main" w="0">
      <a:solidFill>
        <a:srgbClr val="0B1020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384F1-CABA-4790-87FD-DD0107A7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81AA0-3F33-405D-9E6E-FBF86D10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-1476375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19050">
            <a:solidFill>
              <a:srgbClr val="9B87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65325F-8707-467F-AEE0-6A6B53F0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-74295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19050">
            <a:solidFill>
              <a:srgbClr val="9B87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9FBFA-F7EC-4C60-9722-A4C25715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0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SK AX AI CAPSTONE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C60FE-13BB-4DB8-A999-F400E7AE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8953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lnSpc>
                <a:spcPct val="104000"/>
              </a:lnSpc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이미지 기반 제품 결함 판정 및</a:t>
            </a:r>
          </a:p>
          <a:p xmlns:a="http://schemas.openxmlformats.org/drawingml/2006/main">
            <a:pPr>
              <a:lnSpc>
                <a:spcPct val="104000"/>
              </a:lnSpc>
              <a:buNone/>
              <a:def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5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근거 교차 검증 멀티에이전트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998EF-D005-4C2C-B7B8-FA04AF24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VLM 관찰을 검사 기준서, 결정 규칙, 사람 승인으로 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84D34-B77E-439F-8A9C-D2D822AB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964982-40CD-471E-90AB-0F727BA8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광주 4반  G123  신민서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8CB06-CFDD-4ACD-948E-240A480A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2026.10.22</a:t>
            </a:r>
          </a:p>
        </p:txBody>
      </p:sp>
    </p:spTree>
    <p:extLst>
      <p:ext uri="{BB962C8B-B14F-4D97-AF65-F5344CB8AC3E}">
        <p14:creationId xmlns:p14="http://schemas.microsoft.com/office/powerpoint/2010/main" val="909778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DDF31A-650F-424A-AB06-1217DE7A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AA044-2FA8-4DCA-91D7-E205FE9B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이미지 하나로 판정하지 않는다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8CB25-D8AF-40C0-B9AE-D95386DA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9378B-F47B-4599-AF23-66F8952C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293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7E82B-1E47-4FB2-8E45-4AB0BD0A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A00F2-8E55-4FBC-994D-3CFD6B6F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335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Observer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3F7A1-003C-4352-B805-30093F0E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192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전체 이미지와 분할 이미지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6B55C-728A-4FDD-BAB3-CE4D6FE3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1629D-B5A3-49A1-AB05-ED2FA14E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717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Cross-Checker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7A29C-532E-4304-B2DC-BAFFD9C4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574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반전 이미지로 6개 항목 재확인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A6B5-5F78-41F3-812D-4B9D42B8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19A39-3AE0-4599-8FDB-1A9106DF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099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Spec-Judge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6F9D40-8301-4EBD-88D6-3B3D35C3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956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검사 기준서 top 3 검색 후 조항 판단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03DB92-0951-465F-8E5A-5B920EC4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37D6D8-22F8-4EA9-8FAC-4DCF3F3D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481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Decision 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310DF0-A00B-45F3-829F-F2AD0448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338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PASS, REJECT, ABSTAIN 코드 결정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333C6-27C9-4FCA-B48D-9F3B1E0B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A19E75-0EFD-466B-8885-D4FDD4BA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86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HITL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D92D8-0A35-4BB9-8061-E86D8D35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720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사람 승인 또는 반려 후 보고서 검증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5BDEB2-011D-4917-8D20-B7B54AD6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19225"/>
            <a:ext cx="3886200" cy="46482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1B2438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6ECFFC-DA56-4AF7-9FB2-A29742E23A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fcfef2a6c4d41"/>
          <a:stretch xmlns:a="http://schemas.openxmlformats.org/drawingml/2006/main"/>
        </p:blipFill>
        <p:spPr>
          <a:xfrm xmlns:a="http://schemas.openxmlformats.org/drawingml/2006/main">
            <a:off x="7816870" y="1466850"/>
            <a:ext cx="3016210" cy="4552950"/>
          </a:xfrm>
          <a:prstGeom xmlns:a="http://schemas.openxmlformats.org/drawingml/2006/main" prst="roundRect">
            <a:avLst>
              <a:gd name="adj" fmla="val 2010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F85B8-C4D2-41D2-8F40-7DA848D3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rPr>
              <a:t>LangGraph   Vision MCP   RAG   DI   LangSmith   SQLite</a:t>
            </a:r>
          </a:p>
        </p:txBody>
      </p:sp>
    </p:spTree>
    <p:extLst>
      <p:ext uri="{BB962C8B-B14F-4D97-AF65-F5344CB8AC3E}">
        <p14:creationId xmlns:p14="http://schemas.microsoft.com/office/powerpoint/2010/main" val="5937531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6C3AA-8FAE-4670-A720-2B478B24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92CC9-FDF0-4DCA-9B4C-8523C2D6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이미지 입력부터 사람 승인, 최종 보고서까지 나온다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1224-8E8F-4D49-9B48-2F6CD101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7EEB1-2789-4BA2-97D1-BC042F5B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293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EAC4D-1DDF-47CA-AD1E-6F7BDEB0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이미지 입력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255C3-5ECC-4A8E-BBD6-9780E574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876425"/>
            <a:ext cx="3238500" cy="40767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1B2438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26EB6-4F86-4776-A529-FE881D3666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0ac89c1204601"/>
          <a:stretch xmlns:a="http://schemas.openxmlformats.org/drawingml/2006/main"/>
        </p:blipFill>
        <p:spPr>
          <a:xfrm xmlns:a="http://schemas.openxmlformats.org/drawingml/2006/main">
            <a:off x="866595" y="1924050"/>
            <a:ext cx="2629259" cy="39814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84AB5-D0B1-4C2F-989F-F4B2AD31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4859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사람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34EB2-D0E9-428A-8AFE-716CDDEE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76425"/>
            <a:ext cx="3238500" cy="40767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1B2438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1D7C6-7513-4AD5-B38C-071AF20A84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db265fb584423"/>
          <a:stretch xmlns:a="http://schemas.openxmlformats.org/drawingml/2006/main"/>
        </p:blipFill>
        <p:spPr>
          <a:xfrm xmlns:a="http://schemas.openxmlformats.org/drawingml/2006/main">
            <a:off x="4567647" y="1924050"/>
            <a:ext cx="2637606" cy="39814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00FD2-6B38-48B0-A6B9-FB3DE254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859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최종 보고서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16385-CA78-4B8F-90BF-5B8568F8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876425"/>
            <a:ext cx="3238500" cy="40767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1B2438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241A5A-EEF7-47AC-91AD-8C0B3E9DF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130141e86443c"/>
          <a:stretch xmlns:a="http://schemas.openxmlformats.org/drawingml/2006/main"/>
        </p:blipFill>
        <p:spPr>
          <a:xfrm xmlns:a="http://schemas.openxmlformats.org/drawingml/2006/main">
            <a:off x="8272872" y="1924050"/>
            <a:ext cx="2637606" cy="39814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2BC74-AA66-4245-B083-2F47FC6C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화면은 fake 백엔드로 기능 흐름을 재현한 것이다. 성능 수치는 다음 슬라이드에 있다.</a:t>
            </a:r>
          </a:p>
        </p:txBody>
      </p:sp>
    </p:spTree>
    <p:extLst>
      <p:ext uri="{BB962C8B-B14F-4D97-AF65-F5344CB8AC3E}">
        <p14:creationId xmlns:p14="http://schemas.microsoft.com/office/powerpoint/2010/main" val="304435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6930FF-4578-4826-904A-4D6C6AC2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690C5-AE6F-43DA-9E15-92AAECEC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실모델 검증에서 시각 모델 병목이 드러났다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797F2-821E-4D20-B691-25D29C1B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13B8A-4BBE-4116-BE40-D7DAE853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293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D93FE3A-75D8-47D4-90FE-3FA405AF8E4C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67056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9b6a8d0af847c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792F8-BA1A-4478-8FBC-B0704512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295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75" b="1">
                <a:solidFill>
                  <a:srgbClr val="F5B84B"/>
                </a:solidFill>
                <a:latin typeface="Noto Sans CJK KR"/>
                <a:ea typeface="Noto Sans CJK KR"/>
                <a:cs typeface="Noto Sans CJK KR"/>
              </a:rPr>
              <a:t>41 / 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AA3DE-B6D1-4499-9B63-F6D75A08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24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근거 부족으로 보류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76CB9-D178-447D-B625-3ED6AA6A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342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낮은 근거를 자동 합격으로 바꾸지 않고</a:t>
            </a:r>
          </a:p>
          <a:p xmlns:a="http://schemas.openxmlformats.org/drawingml/2006/main">
            <a:pPr>
              <a:def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사람 검토로 보냈다.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FBD7C-886B-4788-85DD-930CABC1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1">
                <a:solidFill>
                  <a:srgbClr val="FF6B6B"/>
                </a:solidFill>
                <a:latin typeface="Noto Sans CJK KR"/>
                <a:ea typeface="Noto Sans CJK KR"/>
                <a:cs typeface="Noto Sans CJK KR"/>
              </a:rPr>
              <a:t>결함 정답  0 / 28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01423-7669-4277-86C7-D2194342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시각 탐지 성능은 개선하지 못했다.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6AAE8-DEDA-470F-B7A9-1EF0B0A3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CB55D-9E1F-48C4-B0C3-4DE33ED2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엄격한 전체 시도 정확도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B2A3E3-CC4C-48DA-BE78-1488C9DF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B0  28.85%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98D84-3014-4FEC-8826-F0B65239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95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A  11.54%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69026-4365-40E2-BA30-47A1CEA3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149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원인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6D100-8849-4852-A6A9-B165FA27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3B VLM이 미세 결함을 놓치면</a:t>
            </a:r>
          </a:p>
          <a:p xmlns:a="http://schemas.openxmlformats.org/drawingml/2006/main">
            <a:pPr>
              <a:def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2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RAG는 픽셀 정보를 복구하지 못한다.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07FEC-466D-4C37-8D32-A708A622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Ollama qwen2.5vl:3b, dev 52장. 오류, 누락, ABSTAIN을 전체 분모에 포함했다.</a:t>
            </a:r>
          </a:p>
        </p:txBody>
      </p:sp>
    </p:spTree>
    <p:extLst>
      <p:ext uri="{BB962C8B-B14F-4D97-AF65-F5344CB8AC3E}">
        <p14:creationId xmlns:p14="http://schemas.microsoft.com/office/powerpoint/2010/main" val="16623350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2F8974-413A-4C68-BE9B-BB92FADE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79ACD-7783-4300-8BF1-B5A7C686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5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검사 지원 구조를 완성했고, 시각 모델 병목을 확인했다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A5ED7-B95C-441F-BB4E-ACB8006B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C2065-470E-4F3C-8149-68FED800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293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00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B2C2C-5A94-49CC-A619-15C76394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50" b="1">
                <a:solidFill>
                  <a:srgbClr val="43D19E"/>
                </a:solidFill>
                <a:latin typeface="Noto Sans CJK KR"/>
                <a:ea typeface="Noto Sans CJK KR"/>
                <a:cs typeface="Noto Sans CJK KR"/>
              </a:rPr>
              <a:t>구현과 검증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18BA3-0AFF-4D1A-93EB-63EE6D24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9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B7F9F-B3A9-41B9-AF9B-FD6CB8BE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LangGraph 기반 멀티에이전트 파이프라인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B13B2-EC3E-40EF-A321-6E9FADA2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BF852-2B22-41B4-A68C-E1A7A18F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검사 기준서 인용과 코드 결정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19418-0693-46A5-BFF5-C2F42757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00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81952-473A-4016-8F03-F4E36F5B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HITL 중단 및 재개 흐름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AB765-012F-4B2D-9128-D2D6C572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8CC87-60A4-414F-A6F9-1FECA550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전체 회귀 테스트 685건 통과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37D05-11C4-4F97-A926-53F8599A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D1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42074-2710-4F2E-8F32-54F71A7D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148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B0와 A를 동일 이미지로 실측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DE1780-74E1-4B10-BBFE-1231A089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50" b="1">
                <a:solidFill>
                  <a:srgbClr val="9B87F5"/>
                </a:solidFill>
                <a:latin typeface="Noto Sans CJK KR"/>
                <a:ea typeface="Noto Sans CJK KR"/>
                <a:cs typeface="Noto Sans CJK KR"/>
              </a:rPr>
              <a:t>다음 구조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F4655-2D99-4B5B-BA05-2AED56A6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5143500" cy="23622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41B2D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D83B0-51F5-413B-B861-3B8E28D4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24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역할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4E71CA-3123-42CB-8ACC-609B319B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24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F5EDD5-2D1A-4F7B-9F9A-BC00F552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76525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3FF58-A0B8-4869-97F4-1AE4EEE5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6702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결함 탐지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6C2F65-4D6A-4D71-A432-4EF3D47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670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전용 이상탐지 모델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083536-D027-44A4-BA57-7FF7887E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0EAF4-E150-4CAE-ABA2-9E66265F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194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설명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171E5-5A94-4689-89A7-873A88FD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194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VLM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01E2E3-B2BD-439A-95E9-B895162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38575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A6CACA-CCDA-421B-9F1A-25159981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7192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판정 근거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0FE76A-ED40-457A-8A46-C3C4910C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719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RAG, 코드 규칙, HITL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971E70-460D-475D-9CAE-D06C2B2D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3395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정확도 가설은 실패했다. 다만 비교로 병목을 시각 모델로 좁혔고,</a:t>
            </a:r>
          </a:p>
          <a:p xmlns:a="http://schemas.openxmlformats.org/drawingml/2006/main">
            <a:pPr>
              <a:buNone/>
              <a:def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1">
                <a:solidFill>
                  <a:srgbClr val="F8FAFC"/>
                </a:solidFill>
                <a:latin typeface="Noto Sans CJK KR"/>
                <a:ea typeface="Noto Sans CJK KR"/>
                <a:cs typeface="Noto Sans CJK KR"/>
              </a:rPr>
              <a:t>가정을 모델 교체에 따라 검증한다.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B69F8E-B7C6-4202-A1C3-1507482C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>
                <a:solidFill>
                  <a:srgbClr val="A8B3C7"/>
                </a:solidFill>
                <a:latin typeface="Noto Sans CJK KR"/>
                <a:ea typeface="Noto Sans CJK KR"/>
                <a:cs typeface="Noto Sans CJK KR"/>
              </a:rPr>
              <a:t>완성된 구조는 그대로 남기고, 시각 모델을 교체하는 방향으로 간다.</a:t>
            </a:r>
          </a:p>
        </p:txBody>
      </p:sp>
    </p:spTree>
    <p:extLst>
      <p:ext uri="{BB962C8B-B14F-4D97-AF65-F5344CB8AC3E}">
        <p14:creationId xmlns:p14="http://schemas.microsoft.com/office/powerpoint/2010/main" val="1591403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2026-10-22T04:29:31.6990000Z</dcterms:created>
  <dcterms:modified xsi:type="dcterms:W3CDTF">2026-10-22T04:29:31.6990000Z</dcterms:modified>
</coreProperties>
</file>